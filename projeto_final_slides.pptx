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A3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FORTALEZA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640080" cy="64008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Convincente vs Verdade Analítica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4114800" cy="0"/>
          </a:xfrm>
          <a:prstGeom prst="line">
            <a:avLst/>
          </a:prstGeom>
          <a:noFill/>
          <a:ln w="12700">
            <a:solidFill>
              <a:srgbClr val="A3B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Engenharia de Dados — UNIFOR | Turma 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3 min  |  Notebook + Resumo Executivo  |  Comparação Antes vs Depois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Cassio Pinheiro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5695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48640" cy="54864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do Projeto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maturidade analítica em dados reais — prove, com evidências, como a análise correta pode mudar a decisão.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4114800" cy="0"/>
          </a:xfrm>
          <a:prstGeom prst="line">
            <a:avLst/>
          </a:prstGeom>
          <a:noFill/>
          <a:ln w="12700">
            <a:solidFill>
              <a:srgbClr val="A3B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|  Entrega em equipe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Narrativas, Uma Verdade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equipe construirá duas versões da mesma análise.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87188" cy="3749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91440" cy="3749040"/>
          </a:xfrm>
          <a:prstGeom prst="rect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011680"/>
            <a:ext cx="4015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INICIAL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45642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Plausível, mas frágil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0120" y="3566160"/>
            <a:ext cx="45642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baseada em análise inicial e superficial dos dados — o que “qualquer um” concluiria ao primeiro olhar.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55868" y="1554480"/>
            <a:ext cx="5387188" cy="374904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554480"/>
            <a:ext cx="91440" cy="3749040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67348" y="1965960"/>
            <a:ext cx="640080" cy="640080"/>
          </a:xfrm>
          <a:prstGeom prst="ellipse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3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44588" y="2011680"/>
            <a:ext cx="4015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CORRIGIDA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67348" y="2834640"/>
            <a:ext cx="45642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 e defensável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67348" y="3566160"/>
            <a:ext cx="45642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conclusão após correções metodológicas, controle de vieses e testes de robustez aplicados sobre os mesmos dados.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4415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532120"/>
            <a:ext cx="73152" cy="64008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5321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do projeto é provar, com evidências, como a análise correta pode mudar a decisão.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Narrativa vs Verdade Analítica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 Ser Entregue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obrigatórios — todos em equipe, formato digital.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100584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60220"/>
            <a:ext cx="685800" cy="685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602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notebook.ipynb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completo, reprodutível e comentado — do carregamento à conclusão.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1094415" cy="100584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15768"/>
            <a:ext cx="73152" cy="100584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875788"/>
            <a:ext cx="685800" cy="685800"/>
          </a:xfrm>
          <a:prstGeom prst="ellipse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757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28529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21868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2 páginas em .md ou PDF — pensado para um tomador de decisão não técnico.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11094415" cy="100584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31336"/>
            <a:ext cx="73152" cy="1005840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991356"/>
            <a:ext cx="685800" cy="685800"/>
          </a:xfrm>
          <a:prstGeom prst="ellipse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913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39684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Antes vs Depois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4334256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objetiva dos dois ranqueamentos/conclusões, com evidência numérica e visual.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46904"/>
            <a:ext cx="11094415" cy="100584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946904"/>
            <a:ext cx="73152" cy="1005840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106924"/>
            <a:ext cx="685800" cy="685800"/>
          </a:xfrm>
          <a:prstGeom prst="ellipse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1069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828800" y="50840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das fontes oficiais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828800" y="544982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total — toda fonte citada deve permitir reprodução por terceiros.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Entregáveis obrigatórios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Técnicos Obrigatórios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esses mínimos, a análise não é considerada completa.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GRÁFICOS NO MÍNIMO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45738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45738" cy="73152"/>
          </a:xfrm>
          <a:prstGeom prst="rect">
            <a:avLst/>
          </a:prstGeom>
          <a:solidFill>
            <a:srgbClr val="3B82B6"/>
          </a:solidFill>
          <a:ln w="12700">
            <a:solidFill>
              <a:srgbClr val="3B8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3B8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1 gráfico em série temporal — evolução no tempo.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2978" y="1920240"/>
            <a:ext cx="3545738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2978" y="1920240"/>
            <a:ext cx="3545738" cy="73152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7298" y="219456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7298" y="274320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1 gráfico comparativo — ranking, barras, cross-tab.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7317" y="1920240"/>
            <a:ext cx="3545738" cy="1828800"/>
          </a:xfrm>
          <a:prstGeom prst="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7317" y="1920240"/>
            <a:ext cx="3545738" cy="73152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1637" y="219456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7B4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71637" y="274320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Boxplot, histograma ou densidade — revelar dispersão.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ANÁLISE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432908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34840"/>
            <a:ext cx="73152" cy="109728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26280"/>
            <a:ext cx="5067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937760"/>
            <a:ext cx="50671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 e anomalias tratados e documentados.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0148" y="4434840"/>
            <a:ext cx="5432908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0148" y="4434840"/>
            <a:ext cx="73152" cy="1097280"/>
          </a:xfrm>
          <a:prstGeom prst="rect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4468" y="4526280"/>
            <a:ext cx="5067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robustez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84468" y="4937760"/>
            <a:ext cx="50671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1: mediana, percentis, estratificação, ponderação, taxa, ajuste temporal ou deflação.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Mínimos técnicos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Avaliado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entre Antes e Depois é o coração da nota.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64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73152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55448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da pergunta e da hipótese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728" y="1554480"/>
            <a:ext cx="5364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554480"/>
            <a:ext cx="73152" cy="100584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3048" y="1737360"/>
            <a:ext cx="640080" cy="640080"/>
          </a:xfrm>
          <a:prstGeom prst="ellipse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304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76008" y="155448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preparação dos dados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5364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43200"/>
            <a:ext cx="73152" cy="1005840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274320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metodológica da análise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8728" y="2743200"/>
            <a:ext cx="5364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43200"/>
            <a:ext cx="73152" cy="1005840"/>
          </a:xfrm>
          <a:prstGeom prst="rect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3048" y="2926080"/>
            <a:ext cx="640080" cy="640080"/>
          </a:xfrm>
          <a:prstGeom prst="ellipse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048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76008" y="274320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de mudança entre Antes e Depois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5364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931920"/>
            <a:ext cx="73152" cy="1005840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645920" y="393192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gráficos e da comunicação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78728" y="3931920"/>
            <a:ext cx="5364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931920"/>
            <a:ext cx="73152" cy="1005840"/>
          </a:xfrm>
          <a:prstGeom prst="rect">
            <a:avLst/>
          </a:prstGeom>
          <a:solidFill>
            <a:srgbClr val="D9A23A"/>
          </a:solidFill>
          <a:ln w="12700">
            <a:solidFill>
              <a:srgbClr val="D9A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53048" y="4114800"/>
            <a:ext cx="640080" cy="640080"/>
          </a:xfrm>
          <a:prstGeom prst="ellipse">
            <a:avLst/>
          </a:prstGeom>
          <a:solidFill>
            <a:srgbClr val="D9A23A"/>
          </a:solidFill>
          <a:ln w="12700">
            <a:solidFill>
              <a:srgbClr val="D9A2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3048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76008" y="393192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e fontes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Critérios de avaliação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Sugerida do Notebook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 ordem para facilitar leitura e avaliação da banca.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265016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7960" y="1874520"/>
            <a:ext cx="731520" cy="7315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79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hipótese inicial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63392" y="1600200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3392" y="1600200"/>
            <a:ext cx="2650160" cy="73152"/>
          </a:xfrm>
          <a:prstGeom prst="rect">
            <a:avLst/>
          </a:prstGeom>
          <a:solidFill>
            <a:srgbClr val="3B82B6"/>
          </a:solidFill>
          <a:ln w="12700">
            <a:solidFill>
              <a:srgbClr val="3B8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2712" y="1874520"/>
            <a:ext cx="731520" cy="731520"/>
          </a:xfrm>
          <a:prstGeom prst="ellipse">
            <a:avLst/>
          </a:prstGeom>
          <a:solidFill>
            <a:srgbClr val="3B82B6"/>
          </a:solidFill>
          <a:ln w="12700">
            <a:solidFill>
              <a:srgbClr val="3B8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2712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46272" y="2788920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e descrição dos dados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8144" y="1600200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8144" y="1600200"/>
            <a:ext cx="2650160" cy="73152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7464" y="1874520"/>
            <a:ext cx="731520" cy="731520"/>
          </a:xfrm>
          <a:prstGeom prst="ellipse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7464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61024" y="2788920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 (nulos, tipos, anomalias)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92895" y="1600200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2895" y="1600200"/>
            <a:ext cx="2650160" cy="73152"/>
          </a:xfrm>
          <a:prstGeom prst="rect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52215" y="1874520"/>
            <a:ext cx="731520" cy="731520"/>
          </a:xfrm>
          <a:prstGeom prst="ellipse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52215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75775" y="2788920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Inicial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776472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776472"/>
            <a:ext cx="2650160" cy="73152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7960" y="4050792"/>
            <a:ext cx="731520" cy="731520"/>
          </a:xfrm>
          <a:prstGeom prst="ellipse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7960" y="4050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" y="4965192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 testes de robustez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63392" y="3776472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63392" y="3776472"/>
            <a:ext cx="2650160" cy="73152"/>
          </a:xfrm>
          <a:prstGeom prst="rect">
            <a:avLst/>
          </a:prstGeom>
          <a:solidFill>
            <a:srgbClr val="4CA85E"/>
          </a:solidFill>
          <a:ln w="12700">
            <a:solidFill>
              <a:srgbClr val="4CA8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2712" y="4050792"/>
            <a:ext cx="731520" cy="731520"/>
          </a:xfrm>
          <a:prstGeom prst="ellipse">
            <a:avLst/>
          </a:prstGeom>
          <a:solidFill>
            <a:srgbClr val="4CA85E"/>
          </a:solidFill>
          <a:ln w="12700">
            <a:solidFill>
              <a:srgbClr val="4CA8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22712" y="4050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46272" y="4965192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Corrigida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78144" y="3776472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8144" y="3776472"/>
            <a:ext cx="2650160" cy="73152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7464" y="4050792"/>
            <a:ext cx="731520" cy="731520"/>
          </a:xfrm>
          <a:prstGeom prst="ellipse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7464" y="4050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361024" y="4965192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executiva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992895" y="3776472"/>
            <a:ext cx="265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92895" y="3776472"/>
            <a:ext cx="2650160" cy="73152"/>
          </a:xfrm>
          <a:prstGeom prst="rect">
            <a:avLst/>
          </a:prstGeom>
          <a:solidFill>
            <a:srgbClr val="D9A23A"/>
          </a:solidFill>
          <a:ln w="12700">
            <a:solidFill>
              <a:srgbClr val="D9A2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52215" y="4050792"/>
            <a:ext cx="731520" cy="731520"/>
          </a:xfrm>
          <a:prstGeom prst="ellipse">
            <a:avLst/>
          </a:prstGeom>
          <a:solidFill>
            <a:srgbClr val="D9A23A"/>
          </a:solidFill>
          <a:ln w="12700">
            <a:solidFill>
              <a:srgbClr val="D9A2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52215" y="4050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175775" y="4965192"/>
            <a:ext cx="228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do estudo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6044184"/>
            <a:ext cx="11094415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6044184"/>
            <a:ext cx="73152" cy="50292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6044184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entre etapas devem ser narradas — cada correção precisa justificar a próxima.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Estrutura do notebook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SUA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48640" cy="54864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Propostas de Trabalho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1 proposta. Todas usam dados públicos oficiais e já têm o ponto de atenção metodológico mapeado.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4114800" cy="0"/>
          </a:xfrm>
          <a:prstGeom prst="line">
            <a:avLst/>
          </a:prstGeom>
          <a:noFill/>
          <a:ln w="12700">
            <a:solidFill>
              <a:srgbClr val="A3B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 ·  ANEEL  ·  OpenDataSUS  ·  CAGED  ·  INEP  ·  PRF  ·  INPE  ·  CVM  ·  INMET  ·  Transparência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 01 – 05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 ·  Ponto de atenção  ·  Começo sugerido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91440" cy="86868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/ dados.gov.br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58191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UF é mais cara para abastecer?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58191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simples pode enganar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média vs mediana por UF em janela temporal comum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68880"/>
            <a:ext cx="91440" cy="868680"/>
          </a:xfrm>
          <a:prstGeom prst="rect">
            <a:avLst/>
          </a:prstGeom>
          <a:solidFill>
            <a:srgbClr val="3B82B6"/>
          </a:solidFill>
          <a:ln w="12700">
            <a:solidFill>
              <a:srgbClr val="3B8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688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544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 ANEEL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54203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distribuidora tem pior qualidade de serviço?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254203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só 1 indicador e 1 período distorce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DEC e FEC em série temporal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29000"/>
            <a:ext cx="91440" cy="868680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290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OpenDataSUS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350215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cobertura vacinal melhorou de fato?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350215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absoluto de doses ≠ cobertura real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absoluto vs taxa por população-alvo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89120"/>
            <a:ext cx="91440" cy="868680"/>
          </a:xfrm>
          <a:prstGeom prst="rect">
            <a:avLst/>
          </a:prstGeom>
          <a:solidFill>
            <a:srgbClr val="4CA85E"/>
          </a:solidFill>
          <a:ln w="12700">
            <a:solidFill>
              <a:srgbClr val="4CA8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3891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5544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EMPREGO FORMAL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CAGED / MTE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0" y="446227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setor mais gera emprego?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46227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Admissões sem desligamentos engana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admissões vs por saldo líquido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349240"/>
            <a:ext cx="91440" cy="868680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3492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4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55448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5448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INEP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542239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UF tem melhor desempenho?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542239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 sem estratificação induz erro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resultados por rede pública vs privada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10 Propostas de Trabalho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 06 – 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 ·  Ponto de atenção  ·  Começo sugerido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91440" cy="868680"/>
          </a:xfrm>
          <a:prstGeom prst="rect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TRÂNSITO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 + IBGE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58191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é mais perigoso no trânsito?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58191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sem taxa de exposição engana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Absoluto vs taxa por 100 mil hab. / frota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68880"/>
            <a:ext cx="91440" cy="86868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688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544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INPE Terrabrasilis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54203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estado mais piorou em queimadas?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254203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Totais anuais sem contexto de área/sazonalidade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Absoluto vs taxa por área e mês equivalente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29000"/>
            <a:ext cx="91440" cy="868680"/>
          </a:xfrm>
          <a:prstGeom prst="rect">
            <a:avLst/>
          </a:prstGeom>
          <a:solidFill>
            <a:srgbClr val="D9A23A"/>
          </a:solidFill>
          <a:ln w="12700">
            <a:solidFill>
              <a:srgbClr val="D9A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290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LISTADAS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350215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empresa é mais saudável financeiramente?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350215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isolado não representa saúde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lucro, margem e endividamento no mesmo setor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89120"/>
            <a:ext cx="91440" cy="868680"/>
          </a:xfrm>
          <a:prstGeom prst="rect">
            <a:avLst/>
          </a:prstGeom>
          <a:solidFill>
            <a:srgbClr val="3B82B6"/>
          </a:solidFill>
          <a:ln w="12700">
            <a:solidFill>
              <a:srgbClr val="3B8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3891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5544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0" y="446227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cidade é mais quente?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46227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curto distorce resultado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 extremos (p95/p99) em 12 meses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94415" cy="86868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349240"/>
            <a:ext cx="91440" cy="868680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3492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4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55448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PÚBLICO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5448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 Transparência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5422392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área é mais priorizada no orçamento?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5422392"/>
            <a:ext cx="32305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 ≠ executado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Começo: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 vs pago em valores reais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10 Propostas de Trabalho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 Antes da Entrega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algum item falhar, o projeto não está pronto para ser entregue.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60020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clara e hipótese inicial explícita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6032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oficial citada com link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52044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 analisada (nulos / anomalias)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7091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48056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Inicial construída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78728" y="160020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3048" y="18288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7408" y="160020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corrigida com método robusto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78728" y="256032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3048" y="27889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47408" y="256032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Antes vs Depois objetiva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78728" y="352044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3048" y="37490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7408" y="352044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executiva final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78728" y="4480560"/>
            <a:ext cx="5364328" cy="822960"/>
          </a:xfrm>
          <a:prstGeom prst="rect">
            <a:avLst/>
          </a:prstGeom>
          <a:solidFill>
            <a:srgbClr val="F4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53048" y="47091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47408" y="4480560"/>
            <a:ext cx="435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do estudo declaradas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Checklist de entrega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Pitch — 3 Minutos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Ensaie cronometrado. A banca corta em 3’15”.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72579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2072579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310610" y="2788920"/>
            <a:ext cx="548640" cy="5486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061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17982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hipótese inicial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04099" y="1828800"/>
            <a:ext cx="2072579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4099" y="1828800"/>
            <a:ext cx="2072579" cy="822960"/>
          </a:xfrm>
          <a:prstGeom prst="rect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4099" y="1920240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566069" y="2788920"/>
            <a:ext cx="548640" cy="548640"/>
          </a:xfrm>
          <a:prstGeom prst="ellipse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069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41259" y="3474720"/>
            <a:ext cx="17982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Inicial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59558" y="1828800"/>
            <a:ext cx="2072579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9558" y="1828800"/>
            <a:ext cx="2072579" cy="82296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9558" y="1920240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821528" y="2788920"/>
            <a:ext cx="548640" cy="548640"/>
          </a:xfrm>
          <a:prstGeom prst="ellipse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21528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96718" y="3474720"/>
            <a:ext cx="17982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metodológicas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017" y="1828800"/>
            <a:ext cx="2072579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017" y="1828800"/>
            <a:ext cx="2072579" cy="822960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017" y="1920240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8076987" y="2788920"/>
            <a:ext cx="548640" cy="548640"/>
          </a:xfrm>
          <a:prstGeom prst="ellipse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6987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177" y="3474720"/>
            <a:ext cx="17982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Corrigida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70476" y="1828800"/>
            <a:ext cx="2072579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0476" y="1828800"/>
            <a:ext cx="2072579" cy="822960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0476" y="1920240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0332446" y="2788920"/>
            <a:ext cx="548640" cy="548640"/>
          </a:xfrm>
          <a:prstGeom prst="ellipse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446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07636" y="3474720"/>
            <a:ext cx="17982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final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39507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894966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150425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405884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029200"/>
            <a:ext cx="7315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0292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minutos exatos. </a:t>
            </a:r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em voz alta — ler do papel elimina pontos de comunicação.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Pitch de 3 minutos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analítica vale mais do que conclusão confortável.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55768" cy="22631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91440" cy="2263140"/>
          </a:xfrm>
          <a:prstGeom prst="rect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D94B52"/>
          </a:solidFill>
          <a:ln w="12700">
            <a:solidFill>
              <a:srgbClr val="D94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192024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D9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FORCE A CONCLUSÃO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490712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os dados “falarem”. Resista a confirmar a hipótese inicial quando a evidência não sustenta.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7288" y="1600200"/>
            <a:ext cx="5455768" cy="226314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7288" y="1600200"/>
            <a:ext cx="91440" cy="2263140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7328" y="1920240"/>
            <a:ext cx="640080" cy="640080"/>
          </a:xfrm>
          <a:prstGeom prst="ellipse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732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30288" y="192024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TODA DECISÃO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3048" y="2697480"/>
            <a:ext cx="490712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filtro, limpeza ou transformação deve ter justificativa escrita e rastreável no notebook.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46220"/>
            <a:ext cx="5455768" cy="226314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46220"/>
            <a:ext cx="91440" cy="2263140"/>
          </a:xfrm>
          <a:prstGeom prst="rect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366260"/>
            <a:ext cx="640080" cy="640080"/>
          </a:xfrm>
          <a:prstGeom prst="ellipse">
            <a:avLst/>
          </a:prstGeom>
          <a:solidFill>
            <a:srgbClr val="1E9B91"/>
          </a:solidFill>
          <a:ln w="12700">
            <a:solidFill>
              <a:srgbClr val="1E9B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66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43662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1E9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JUSTAS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143500"/>
            <a:ext cx="490712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período, mesma base de referência, mesma unidade. Sem isso, qualquer ranking é ilusório.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7288" y="4046220"/>
            <a:ext cx="5455768" cy="2263140"/>
          </a:xfrm>
          <a:prstGeom prst="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7288" y="4046220"/>
            <a:ext cx="91440" cy="2263140"/>
          </a:xfrm>
          <a:prstGeom prst="rect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7328" y="4366260"/>
            <a:ext cx="640080" cy="640080"/>
          </a:xfrm>
          <a:prstGeom prst="ellipse">
            <a:avLst/>
          </a:prstGeom>
          <a:solidFill>
            <a:srgbClr val="7B4EAD"/>
          </a:solidFill>
          <a:ln w="12700">
            <a:solidFill>
              <a:srgbClr val="7B4E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7328" y="4366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30288" y="436626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7B4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LIMITAÇÕES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53048" y="5143500"/>
            <a:ext cx="4907128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riscos residuais, vieses não controlados e o que ficaria de fora com mais tempo/dados.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Boas práticas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48640" cy="54864"/>
          </a:xfrm>
          <a:prstGeom prst="rect">
            <a:avLst/>
          </a:prstGeom>
          <a:solidFill>
            <a:srgbClr val="E8743C"/>
          </a:solidFill>
          <a:ln w="12700">
            <a:solidFill>
              <a:srgbClr val="E87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pesquisa, boa narrativa e boa entrega.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Mostrem maturidade analítica — a verdade pode não ser a mais interessante, mas é a única defensável.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4114800" cy="0"/>
          </a:xfrm>
          <a:prstGeom prst="line">
            <a:avLst/>
          </a:prstGeom>
          <a:noFill/>
          <a:ln w="12700">
            <a:solidFill>
              <a:srgbClr val="A3B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Pinheiro  ·  UNIFOR  ·  Especialização em Engenharia de Dados — Turma 02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Final - Narrativa Convincente vs Verdade Analitica</dc:title>
  <dc:subject>PptxGenJS Presentation</dc:subject>
  <dc:creator>Prof. Cassio Pinheiro - UNIFOR</dc:creator>
  <cp:lastModifiedBy>Prof. Cassio Pinheiro - UNIFOR</cp:lastModifiedBy>
  <cp:revision>1</cp:revision>
  <dcterms:created xsi:type="dcterms:W3CDTF">2026-04-24T19:39:15Z</dcterms:created>
  <dcterms:modified xsi:type="dcterms:W3CDTF">2026-04-24T19:39:15Z</dcterms:modified>
</cp:coreProperties>
</file>