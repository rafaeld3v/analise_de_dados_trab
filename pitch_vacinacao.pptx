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1A14"/>
                </a:solidFill>
                <a:latin typeface="Calibri"/>
              </a:defRPr>
            </a:pPr>
            <a:r>
              <a:rPr lang="pt-BR" sz="1300" b="0" i="0" u="none" strike="noStrike">
                <a:solidFill>
                  <a:srgbClr val="0F1A14"/>
                </a:solidFill>
                <a:latin typeface="Calibri"/>
              </a:rPr>
              <a:t>Cobertura média anual VIP — Brasil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Média anual (%)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0.0\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0F1A14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84.5</c:v>
                </c:pt>
                <c:pt idx="1">
                  <c:v>92.5</c:v>
                </c:pt>
                <c:pt idx="2">
                  <c:v>86.9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BB-469A-8E51-7E2428CFCEB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B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B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1A14"/>
                </a:solidFill>
                <a:latin typeface="Calibri"/>
              </a:defRPr>
            </a:pPr>
            <a:r>
              <a:rPr lang="pt-BR" sz="1300" b="0" i="0" u="none" strike="noStrike">
                <a:solidFill>
                  <a:srgbClr val="0F1A14"/>
                </a:solidFill>
                <a:latin typeface="Calibri"/>
              </a:rPr>
              <a:t>Cobertura VIP mensal — Brasil — 38 meses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Cobertura mensal (%)</c:v>
                </c:pt>
              </c:strCache>
            </c:strRef>
          </c:tx>
          <c:spPr>
            <a:ln w="25400" cap="flat">
              <a:solidFill>
                <a:srgbClr val="2C5F2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C5F2D"/>
              </a:solidFill>
              <a:ln w="9525" cap="flat">
                <a:solidFill>
                  <a:srgbClr val="2C5F2D"/>
                </a:solidFill>
                <a:prstDash val="solid"/>
                <a:round/>
              </a:ln>
              <a:effectLst/>
            </c:spPr>
          </c:marker>
          <c:cat>
            <c:strRef>
              <c:f>Sheet1!$A$2:$A$39</c:f>
              <c:strCache>
                <c:ptCount val="38"/>
                <c:pt idx="0">
                  <c:v>Jan/23</c:v>
                </c:pt>
                <c:pt idx="1">
                  <c:v>Fev/23</c:v>
                </c:pt>
                <c:pt idx="2">
                  <c:v>Mar/23</c:v>
                </c:pt>
                <c:pt idx="3">
                  <c:v>Abr/23</c:v>
                </c:pt>
                <c:pt idx="4">
                  <c:v>Mai/23</c:v>
                </c:pt>
                <c:pt idx="5">
                  <c:v>Jun/23</c:v>
                </c:pt>
                <c:pt idx="6">
                  <c:v>Jul/23</c:v>
                </c:pt>
                <c:pt idx="7">
                  <c:v>Ago/23</c:v>
                </c:pt>
                <c:pt idx="8">
                  <c:v>Set/23</c:v>
                </c:pt>
                <c:pt idx="9">
                  <c:v>Out/23</c:v>
                </c:pt>
                <c:pt idx="10">
                  <c:v>Nov/23</c:v>
                </c:pt>
                <c:pt idx="11">
                  <c:v>Dez/23</c:v>
                </c:pt>
                <c:pt idx="12">
                  <c:v>Jan/24</c:v>
                </c:pt>
                <c:pt idx="13">
                  <c:v>Fev/24</c:v>
                </c:pt>
                <c:pt idx="14">
                  <c:v>Mar/24</c:v>
                </c:pt>
                <c:pt idx="15">
                  <c:v>Abr/24</c:v>
                </c:pt>
                <c:pt idx="16">
                  <c:v>Mai/24</c:v>
                </c:pt>
                <c:pt idx="17">
                  <c:v>Jun/24</c:v>
                </c:pt>
                <c:pt idx="18">
                  <c:v>Jul/24</c:v>
                </c:pt>
                <c:pt idx="19">
                  <c:v>Ago/24</c:v>
                </c:pt>
                <c:pt idx="20">
                  <c:v>Set/24</c:v>
                </c:pt>
                <c:pt idx="21">
                  <c:v>Out/24</c:v>
                </c:pt>
                <c:pt idx="22">
                  <c:v>Nov/24</c:v>
                </c:pt>
                <c:pt idx="23">
                  <c:v>Dez/24</c:v>
                </c:pt>
                <c:pt idx="24">
                  <c:v>Jan/25</c:v>
                </c:pt>
                <c:pt idx="25">
                  <c:v>Fev/25</c:v>
                </c:pt>
                <c:pt idx="26">
                  <c:v>Mar/25</c:v>
                </c:pt>
                <c:pt idx="27">
                  <c:v>Abr/25</c:v>
                </c:pt>
                <c:pt idx="28">
                  <c:v>Mai/25</c:v>
                </c:pt>
                <c:pt idx="29">
                  <c:v>Jun/25</c:v>
                </c:pt>
                <c:pt idx="30">
                  <c:v>Jul/25</c:v>
                </c:pt>
                <c:pt idx="31">
                  <c:v>Ago/25</c:v>
                </c:pt>
                <c:pt idx="32">
                  <c:v>Set/25</c:v>
                </c:pt>
                <c:pt idx="33">
                  <c:v>Out/25</c:v>
                </c:pt>
                <c:pt idx="34">
                  <c:v>Nov/25</c:v>
                </c:pt>
                <c:pt idx="35">
                  <c:v>Dez/25</c:v>
                </c:pt>
                <c:pt idx="36">
                  <c:v>Jan/26</c:v>
                </c:pt>
                <c:pt idx="37">
                  <c:v>Fev/26</c:v>
                </c:pt>
              </c:strCache>
            </c:strRef>
          </c:cat>
          <c:val>
            <c:numRef>
              <c:f>Sheet1!$B$2:$B$39</c:f>
              <c:numCache>
                <c:formatCode>General</c:formatCode>
                <c:ptCount val="38"/>
                <c:pt idx="0">
                  <c:v>95.6</c:v>
                </c:pt>
                <c:pt idx="1">
                  <c:v>86.1</c:v>
                </c:pt>
                <c:pt idx="2">
                  <c:v>85.6</c:v>
                </c:pt>
                <c:pt idx="3">
                  <c:v>80.599999999999994</c:v>
                </c:pt>
                <c:pt idx="4">
                  <c:v>79.900000000000006</c:v>
                </c:pt>
                <c:pt idx="5">
                  <c:v>79.400000000000006</c:v>
                </c:pt>
                <c:pt idx="6">
                  <c:v>80.900000000000006</c:v>
                </c:pt>
                <c:pt idx="7">
                  <c:v>83</c:v>
                </c:pt>
                <c:pt idx="8">
                  <c:v>83.8</c:v>
                </c:pt>
                <c:pt idx="9">
                  <c:v>85.7</c:v>
                </c:pt>
                <c:pt idx="10">
                  <c:v>86.9</c:v>
                </c:pt>
                <c:pt idx="11">
                  <c:v>86.7</c:v>
                </c:pt>
                <c:pt idx="12">
                  <c:v>111.8</c:v>
                </c:pt>
                <c:pt idx="13">
                  <c:v>99.4</c:v>
                </c:pt>
                <c:pt idx="14">
                  <c:v>92</c:v>
                </c:pt>
                <c:pt idx="15">
                  <c:v>90.7</c:v>
                </c:pt>
                <c:pt idx="16">
                  <c:v>87.9</c:v>
                </c:pt>
                <c:pt idx="17">
                  <c:v>87.8</c:v>
                </c:pt>
                <c:pt idx="18">
                  <c:v>88.7</c:v>
                </c:pt>
                <c:pt idx="19">
                  <c:v>89.3</c:v>
                </c:pt>
                <c:pt idx="20">
                  <c:v>89.5</c:v>
                </c:pt>
                <c:pt idx="21">
                  <c:v>90.8</c:v>
                </c:pt>
                <c:pt idx="22">
                  <c:v>91.4</c:v>
                </c:pt>
                <c:pt idx="23">
                  <c:v>90.6</c:v>
                </c:pt>
                <c:pt idx="24">
                  <c:v>104.9</c:v>
                </c:pt>
                <c:pt idx="25">
                  <c:v>92.7</c:v>
                </c:pt>
                <c:pt idx="26">
                  <c:v>87.8</c:v>
                </c:pt>
                <c:pt idx="27">
                  <c:v>83.6</c:v>
                </c:pt>
                <c:pt idx="28">
                  <c:v>81.900000000000006</c:v>
                </c:pt>
                <c:pt idx="29">
                  <c:v>81</c:v>
                </c:pt>
                <c:pt idx="30">
                  <c:v>82.5</c:v>
                </c:pt>
                <c:pt idx="31">
                  <c:v>83.1</c:v>
                </c:pt>
                <c:pt idx="32">
                  <c:v>84.5</c:v>
                </c:pt>
                <c:pt idx="33">
                  <c:v>86.2</c:v>
                </c:pt>
                <c:pt idx="34">
                  <c:v>87.2</c:v>
                </c:pt>
                <c:pt idx="35">
                  <c:v>87.8</c:v>
                </c:pt>
                <c:pt idx="36">
                  <c:v>103.6</c:v>
                </c:pt>
                <c:pt idx="37">
                  <c:v>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198-44EB-ACFC-D6221D6D299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Meta PNI (95%)</c:v>
                </c:pt>
              </c:strCache>
            </c:strRef>
          </c:tx>
          <c:spPr>
            <a:ln w="25400" cap="flat">
              <a:solidFill>
                <a:srgbClr val="F39C1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39C12"/>
              </a:solidFill>
              <a:ln w="9525" cap="flat">
                <a:solidFill>
                  <a:srgbClr val="F39C12"/>
                </a:solidFill>
                <a:prstDash val="solid"/>
                <a:round/>
              </a:ln>
              <a:effectLst/>
            </c:spPr>
          </c:marker>
          <c:cat>
            <c:strRef>
              <c:f>Sheet1!$A$2:$A$39</c:f>
              <c:strCache>
                <c:ptCount val="38"/>
                <c:pt idx="0">
                  <c:v>Jan/23</c:v>
                </c:pt>
                <c:pt idx="1">
                  <c:v>Fev/23</c:v>
                </c:pt>
                <c:pt idx="2">
                  <c:v>Mar/23</c:v>
                </c:pt>
                <c:pt idx="3">
                  <c:v>Abr/23</c:v>
                </c:pt>
                <c:pt idx="4">
                  <c:v>Mai/23</c:v>
                </c:pt>
                <c:pt idx="5">
                  <c:v>Jun/23</c:v>
                </c:pt>
                <c:pt idx="6">
                  <c:v>Jul/23</c:v>
                </c:pt>
                <c:pt idx="7">
                  <c:v>Ago/23</c:v>
                </c:pt>
                <c:pt idx="8">
                  <c:v>Set/23</c:v>
                </c:pt>
                <c:pt idx="9">
                  <c:v>Out/23</c:v>
                </c:pt>
                <c:pt idx="10">
                  <c:v>Nov/23</c:v>
                </c:pt>
                <c:pt idx="11">
                  <c:v>Dez/23</c:v>
                </c:pt>
                <c:pt idx="12">
                  <c:v>Jan/24</c:v>
                </c:pt>
                <c:pt idx="13">
                  <c:v>Fev/24</c:v>
                </c:pt>
                <c:pt idx="14">
                  <c:v>Mar/24</c:v>
                </c:pt>
                <c:pt idx="15">
                  <c:v>Abr/24</c:v>
                </c:pt>
                <c:pt idx="16">
                  <c:v>Mai/24</c:v>
                </c:pt>
                <c:pt idx="17">
                  <c:v>Jun/24</c:v>
                </c:pt>
                <c:pt idx="18">
                  <c:v>Jul/24</c:v>
                </c:pt>
                <c:pt idx="19">
                  <c:v>Ago/24</c:v>
                </c:pt>
                <c:pt idx="20">
                  <c:v>Set/24</c:v>
                </c:pt>
                <c:pt idx="21">
                  <c:v>Out/24</c:v>
                </c:pt>
                <c:pt idx="22">
                  <c:v>Nov/24</c:v>
                </c:pt>
                <c:pt idx="23">
                  <c:v>Dez/24</c:v>
                </c:pt>
                <c:pt idx="24">
                  <c:v>Jan/25</c:v>
                </c:pt>
                <c:pt idx="25">
                  <c:v>Fev/25</c:v>
                </c:pt>
                <c:pt idx="26">
                  <c:v>Mar/25</c:v>
                </c:pt>
                <c:pt idx="27">
                  <c:v>Abr/25</c:v>
                </c:pt>
                <c:pt idx="28">
                  <c:v>Mai/25</c:v>
                </c:pt>
                <c:pt idx="29">
                  <c:v>Jun/25</c:v>
                </c:pt>
                <c:pt idx="30">
                  <c:v>Jul/25</c:v>
                </c:pt>
                <c:pt idx="31">
                  <c:v>Ago/25</c:v>
                </c:pt>
                <c:pt idx="32">
                  <c:v>Set/25</c:v>
                </c:pt>
                <c:pt idx="33">
                  <c:v>Out/25</c:v>
                </c:pt>
                <c:pt idx="34">
                  <c:v>Nov/25</c:v>
                </c:pt>
                <c:pt idx="35">
                  <c:v>Dez/25</c:v>
                </c:pt>
                <c:pt idx="36">
                  <c:v>Jan/26</c:v>
                </c:pt>
                <c:pt idx="37">
                  <c:v>Fev/26</c:v>
                </c:pt>
              </c:strCache>
            </c:strRef>
          </c:cat>
          <c:val>
            <c:numRef>
              <c:f>Sheet1!$C$2:$C$39</c:f>
              <c:numCache>
                <c:formatCode>General</c:formatCode>
                <c:ptCount val="38"/>
                <c:pt idx="0">
                  <c:v>95</c:v>
                </c:pt>
                <c:pt idx="1">
                  <c:v>95</c:v>
                </c:pt>
                <c:pt idx="2">
                  <c:v>95</c:v>
                </c:pt>
                <c:pt idx="3">
                  <c:v>95</c:v>
                </c:pt>
                <c:pt idx="4">
                  <c:v>95</c:v>
                </c:pt>
                <c:pt idx="5">
                  <c:v>95</c:v>
                </c:pt>
                <c:pt idx="6">
                  <c:v>95</c:v>
                </c:pt>
                <c:pt idx="7">
                  <c:v>95</c:v>
                </c:pt>
                <c:pt idx="8">
                  <c:v>95</c:v>
                </c:pt>
                <c:pt idx="9">
                  <c:v>95</c:v>
                </c:pt>
                <c:pt idx="10">
                  <c:v>95</c:v>
                </c:pt>
                <c:pt idx="11">
                  <c:v>95</c:v>
                </c:pt>
                <c:pt idx="12">
                  <c:v>95</c:v>
                </c:pt>
                <c:pt idx="13">
                  <c:v>95</c:v>
                </c:pt>
                <c:pt idx="14">
                  <c:v>95</c:v>
                </c:pt>
                <c:pt idx="15">
                  <c:v>95</c:v>
                </c:pt>
                <c:pt idx="16">
                  <c:v>95</c:v>
                </c:pt>
                <c:pt idx="17">
                  <c:v>95</c:v>
                </c:pt>
                <c:pt idx="18">
                  <c:v>95</c:v>
                </c:pt>
                <c:pt idx="19">
                  <c:v>95</c:v>
                </c:pt>
                <c:pt idx="20">
                  <c:v>95</c:v>
                </c:pt>
                <c:pt idx="21">
                  <c:v>95</c:v>
                </c:pt>
                <c:pt idx="22">
                  <c:v>95</c:v>
                </c:pt>
                <c:pt idx="23">
                  <c:v>95</c:v>
                </c:pt>
                <c:pt idx="24">
                  <c:v>95</c:v>
                </c:pt>
                <c:pt idx="25">
                  <c:v>95</c:v>
                </c:pt>
                <c:pt idx="26">
                  <c:v>95</c:v>
                </c:pt>
                <c:pt idx="27">
                  <c:v>95</c:v>
                </c:pt>
                <c:pt idx="28">
                  <c:v>95</c:v>
                </c:pt>
                <c:pt idx="29">
                  <c:v>95</c:v>
                </c:pt>
                <c:pt idx="30">
                  <c:v>95</c:v>
                </c:pt>
                <c:pt idx="31">
                  <c:v>95</c:v>
                </c:pt>
                <c:pt idx="32">
                  <c:v>95</c:v>
                </c:pt>
                <c:pt idx="33">
                  <c:v>95</c:v>
                </c:pt>
                <c:pt idx="34">
                  <c:v>95</c:v>
                </c:pt>
                <c:pt idx="35">
                  <c:v>95</c:v>
                </c:pt>
                <c:pt idx="36">
                  <c:v>95</c:v>
                </c:pt>
                <c:pt idx="37">
                  <c:v>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198-44EB-ACFC-D6221D6D29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700000"/>
          <a:lstStyle/>
          <a:p>
            <a:pPr>
              <a:defRPr sz="700" b="0" i="0" u="none" strike="noStrike">
                <a:solidFill>
                  <a:srgbClr val="6B7B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6"/>
        <c:noMultiLvlLbl val="1"/>
      </c:catAx>
      <c:valAx>
        <c:axId val="2094734552"/>
        <c:scaling>
          <c:orientation val="minMax"/>
          <c:max val="120"/>
          <c:min val="70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B72"/>
                    </a:solidFill>
                    <a:latin typeface="Arial"/>
                  </a:defRPr>
                </a:pPr>
                <a:r>
                  <a:rPr lang="pt-BR" sz="1000" b="0" i="0" u="none" strike="noStrike">
                    <a:solidFill>
                      <a:srgbClr val="6B7B72"/>
                    </a:solidFill>
                    <a:latin typeface="Arial"/>
                  </a:rPr>
                  <a:t>Cobertura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B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B7B72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7355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737360"/>
            <a:ext cx="73152" cy="338328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22960" y="17373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FINAL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Cobertura vacinal: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média mente.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43891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que a </a:t>
            </a:r>
            <a:r>
              <a:rPr lang="en-US" sz="1600" b="1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média anual</a:t>
            </a: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esconde a crise — e a </a:t>
            </a:r>
            <a:r>
              <a:rPr lang="en-US" sz="1600" b="1" i="1" dirty="0">
                <a:solidFill>
                  <a:srgbClr val="DCE9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série mensal vs meta</a:t>
            </a: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revela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54864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D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Especialização em Engenharia de Dados — UNIFOR · Turma 02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Tema: </a:t>
            </a:r>
            <a:r>
              <a:rPr lang="en-US" sz="1100" dirty="0" err="1">
                <a:solidFill>
                  <a:srgbClr val="C9D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Vacinação</a:t>
            </a:r>
            <a:r>
              <a:rPr lang="en-US" sz="1100" dirty="0">
                <a:solidFill>
                  <a:srgbClr val="C9D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Fonte: Painel SEIDIGI/DEMAS — Ministério da Saúde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Cassio Pinheiro · Abril/2026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41732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 · PROBLEMA E HIPÓTESE INICIAL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cobertura da VIP no Brasil está adequada?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1064240" cy="1005840"/>
          </a:xfrm>
          <a:prstGeom prst="rect">
            <a:avLst/>
          </a:prstGeom>
          <a:solidFill>
            <a:srgbClr val="F7F8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73152" cy="1005840"/>
          </a:xfrm>
          <a:prstGeom prst="rect">
            <a:avLst/>
          </a:prstGeom>
          <a:solidFill>
            <a:srgbClr val="6B7B7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68680" y="21945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3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Pólio voltou a ser ameaça global. A meta de cobertura é 95% — abaixo disso, perde-se imunidade de rebanho. Boletins divulgam médias anuais como métrica de sucesso.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520440"/>
            <a:ext cx="5440680" cy="2560320"/>
          </a:xfrm>
          <a:prstGeom prst="rect">
            <a:avLst/>
          </a:prstGeom>
          <a:solidFill>
            <a:srgbClr val="F4E4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91440" cy="256032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868680" y="3749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 ·  HIPÓTESE INICIAL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416052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rgbClr val="0F1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 cobertura está adequada — a média anual gira em torno de 88%."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68680" y="55778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 usada: média anual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3520440"/>
            <a:ext cx="5440680" cy="2560320"/>
          </a:xfrm>
          <a:prstGeom prst="rect">
            <a:avLst/>
          </a:prstGeom>
          <a:solidFill>
            <a:srgbClr val="DCE9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6172200" y="3520440"/>
            <a:ext cx="91440" cy="256032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492240" y="3749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  ·  HIPÓTESE ALTERNATIVA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92240" y="416052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rgbClr val="0F1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 média esconde a verdade — a maioria absoluta dos meses está abaixo da meta."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92240" y="55778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 certa: % de meses na meta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C9D2C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· Projeto Final · UNIFOR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41732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 · NARRATIVA INICIAL  ·  PLAUSÍVEL, MAS FRÁGIL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Olhando só a média anual...</a:t>
            </a:r>
            <a:endParaRPr lang="en-US" sz="3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874520"/>
          <a:ext cx="69494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1874520"/>
            <a:ext cx="3840480" cy="4206240"/>
          </a:xfrm>
          <a:prstGeom prst="rect">
            <a:avLst/>
          </a:prstGeom>
          <a:solidFill>
            <a:srgbClr val="F4E4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7955280" y="2057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APARENTE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955280" y="237744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0F1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"Cobertura ~88%, próxima da meta — programa OK."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955280" y="36576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88 %</a:t>
            </a:r>
            <a:endParaRPr lang="en-US" sz="6000" dirty="0"/>
          </a:p>
        </p:txBody>
      </p:sp>
      <p:sp>
        <p:nvSpPr>
          <p:cNvPr id="10" name="Text 7"/>
          <p:cNvSpPr/>
          <p:nvPr/>
        </p:nvSpPr>
        <p:spPr>
          <a:xfrm>
            <a:off x="7955280" y="4434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do triênio 2023–2025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955280" y="4800600"/>
            <a:ext cx="3474720" cy="0"/>
          </a:xfrm>
          <a:prstGeom prst="line">
            <a:avLst/>
          </a:prstGeom>
          <a:noFill/>
          <a:ln w="635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7955280" y="4937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Distância da meta:  −7 p.p.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955280" y="53492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"Pequena. Trajetória positiva."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C9D2C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· Projeto Final · UNIFOR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41732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 · CORREÇÕES METODOLÓGICAS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Quatro correções aplicadas aos mesmos dados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94960" cy="1874520"/>
          </a:xfrm>
          <a:prstGeom prst="rect">
            <a:avLst/>
          </a:prstGeom>
          <a:solidFill>
            <a:srgbClr val="F7F8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73152" cy="187452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2011680" y="22860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GRANULARIDADE MENSAL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011680" y="274320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3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meta de 95% é mensal. Comprimir 12 meses em 1 número anual esconde a variação que importa.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965960"/>
            <a:ext cx="5394960" cy="1874520"/>
          </a:xfrm>
          <a:prstGeom prst="rect">
            <a:avLst/>
          </a:prstGeom>
          <a:solidFill>
            <a:srgbClr val="F7F8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6217920" y="1965960"/>
            <a:ext cx="73152" cy="187452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492240" y="219456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7680960" y="22860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TRATAR OUTLIERS DE JANEIRO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680960" y="274320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3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meses com cobertura &gt;100% são artefato administrativo (todos em janeiro). Não removidos, mas marcados.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114800"/>
            <a:ext cx="5394960" cy="1874520"/>
          </a:xfrm>
          <a:prstGeom prst="rect">
            <a:avLst/>
          </a:prstGeom>
          <a:solidFill>
            <a:srgbClr val="F7F8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73152" cy="187452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822960" y="434340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2011680" y="44348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DECOMPOSIÇÃO SAZONAL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011680" y="489204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3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cobertura cai sistematicamente entre maio e julho. Comparar anos sem isolar sazonalidade engana.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4114800"/>
            <a:ext cx="5394960" cy="1874520"/>
          </a:xfrm>
          <a:prstGeom prst="rect">
            <a:avLst/>
          </a:prstGeom>
          <a:solidFill>
            <a:srgbClr val="F7F8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6217920" y="4114800"/>
            <a:ext cx="73152" cy="187452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492240" y="434340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7680960" y="44348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 DIRETA DE FRACASSO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680960" y="489204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3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meses abaixo da meta — substitui a média por uma medida sem ambiguidade.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Mesmos dados.  Mesmo período.  Métricas corretas.  Resultado completamente diferente.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C9D2C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· Projeto Final · UNIFOR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41732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4 · NARRATIVA CORRIGIDA  ·  ROBUSTA E DEFENSÁVEL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Quando se mede mês a mês, a verdade aparece...</a:t>
            </a:r>
            <a:endParaRPr lang="en-US" sz="3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874520"/>
          <a:ext cx="69494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1874520"/>
            <a:ext cx="3840480" cy="4206240"/>
          </a:xfrm>
          <a:prstGeom prst="rect">
            <a:avLst/>
          </a:prstGeom>
          <a:solidFill>
            <a:srgbClr val="DCE9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7955280" y="2057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ROBUSTA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955280" y="23774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0F1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Crise estrutural — a meta é exceção, não regra.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955280" y="34747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/ 38</a:t>
            </a:r>
            <a:endParaRPr lang="en-US" sz="5000" dirty="0"/>
          </a:p>
        </p:txBody>
      </p:sp>
      <p:sp>
        <p:nvSpPr>
          <p:cNvPr id="10" name="Text 7"/>
          <p:cNvSpPr/>
          <p:nvPr/>
        </p:nvSpPr>
        <p:spPr>
          <a:xfrm>
            <a:off x="7955280" y="42519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na meta — e os 5 são todos janeiros (artefato administrativo)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955280" y="4937760"/>
            <a:ext cx="3474720" cy="0"/>
          </a:xfrm>
          <a:prstGeom prst="line">
            <a:avLst/>
          </a:prstGeom>
          <a:noFill/>
          <a:ln w="635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7955280" y="5074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janeiros: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955280" y="5349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97% dos meses abaixo da meta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C9D2C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· Projeto Final · UNIFOR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PEÇA-CHAVE  ·  ANTES vs DEPOIS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mesma pergunta · Duas métricas · Conclusões opostas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64240" cy="4197096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ANTES  ·  Narrativa Inicial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DEPOIS  ·  Narrativa Corrigida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F1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Granularidade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F1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Tratamento de outliers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Nenhum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Janeiros marcados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F1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Cobertura 2023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84,5 % (média)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92 % dos meses &lt; meta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F1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Cobertura 2024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92,5 % (média)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83 % dos meses &lt; meta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F1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Cobertura 2025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86,9 % (média)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92 % dos meses &lt; meta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F1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Meses na meta (38 obs)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(invisível)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— todos janeiros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F1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outliers de janeiro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(invisível)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97 % dos meses &lt; meta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F1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Conclusão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i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"Programa adequado"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i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"Crise estrutural"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C9D2C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· Projeto Final · UNIFOR</a:t>
            </a:r>
            <a:endParaRPr lang="en-US" sz="900" dirty="0"/>
          </a:p>
        </p:txBody>
      </p:sp>
      <p:sp>
        <p:nvSpPr>
          <p:cNvPr id="4" name="Text 4"/>
          <p:cNvSpPr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  ·  ETAPA 5 · RECOMENDAÇÃO FINAL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10515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Pare de comunicar </a:t>
            </a:r>
            <a:r>
              <a:rPr lang="en-US" sz="3600" b="1" i="1" dirty="0">
                <a:solidFill>
                  <a:srgbClr val="F4E4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média anual</a:t>
            </a: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Adote </a:t>
            </a:r>
            <a:endParaRPr lang="en-US" sz="3600" dirty="0"/>
          </a:p>
          <a:p>
            <a:pPr marL="0" indent="0">
              <a:buNone/>
            </a:pPr>
            <a:r>
              <a:rPr lang="en-US" sz="3600" b="1" i="1" dirty="0">
                <a:solidFill>
                  <a:srgbClr val="DCE9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 de meses na meta</a:t>
            </a: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como métrica oficial.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4206240"/>
            <a:ext cx="3505200" cy="164592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48640" y="4206240"/>
            <a:ext cx="3505200" cy="36576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77240" y="438912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REAL DE PÓLIO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4800600"/>
            <a:ext cx="304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mediana de 87%.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Imunidade de rebanho exige ≥95%.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Reintrodução é matematicamente possível.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28160" y="4206240"/>
            <a:ext cx="3505200" cy="164592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4328160" y="4206240"/>
            <a:ext cx="3505200" cy="36576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556760" y="438912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 DO MEIO DO ANO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56760" y="4800600"/>
            <a:ext cx="304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 a julho concentra os piores meses.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 intensificada deve ir para lá,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para o final do ano.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07680" y="4206240"/>
            <a:ext cx="3505200" cy="164592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8107680" y="4206240"/>
            <a:ext cx="3505200" cy="36576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336280" y="438912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DO REGISTRO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36280" y="4800600"/>
            <a:ext cx="304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Janeiros &gt;100% indicam doses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registradas fora do mês de aplicação.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Corrigir limpa toda a série histórica.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9D2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Mostrar maturidade analítica é provar que a métrica certa muda a decisão.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679</Words>
  <Application>Microsoft Office PowerPoint</Application>
  <PresentationFormat>Widescreen</PresentationFormat>
  <Paragraphs>118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Arial</vt:lpstr>
      <vt:lpstr>Calibri</vt:lpstr>
      <vt:lpstr>Georgia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Cobertura VIP — Antes vs Depois</dc:title>
  <dc:subject>PptxGenJS Presentation</dc:subject>
  <dc:creator>Projeto Final UNIFOR</dc:creator>
  <cp:lastModifiedBy>Dante Dantas</cp:lastModifiedBy>
  <cp:revision>2</cp:revision>
  <dcterms:created xsi:type="dcterms:W3CDTF">2026-04-26T15:56:30Z</dcterms:created>
  <dcterms:modified xsi:type="dcterms:W3CDTF">2026-04-26T17:00:09Z</dcterms:modified>
</cp:coreProperties>
</file>